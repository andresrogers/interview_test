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285A7A1-9A78-4CD1-BFA8-965783F837C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188941F-1EA2-4BF2-9C0C-F65E192406F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8CE1F93-3EE8-497F-A75C-40D44D57176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1A8CB6-4C66-4A64-8E1D-18C9E417D7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70F3B23-257E-4ADA-8579-68510019CF8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B2BCFF8-2CA2-4927-A6BE-535BC35BA19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713952E-2CA9-42B0-8153-0905C391D15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2DFD23-EE3C-472F-A718-708E28668E9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6A43533-6CD0-43C5-8E99-4CEAC291401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122C825-8554-4B48-95B6-A8403AB75B5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5A028E5-5EB5-4ADD-A9B3-46B8FA985AD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640080" y="411480"/>
            <a:ext cx="2559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TITLE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640080" y="1417320"/>
            <a:ext cx="7589160" cy="12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Cloud Commitment Sizing: </a:t>
            </a:r>
            <a:endParaRPr lang="es-E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Initial Review</a:t>
            </a:r>
            <a:endParaRPr lang="es-E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685800" y="2743200"/>
            <a:ext cx="658332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Agentic AI accelerated workflow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business-first, explicit confidence level and human-in-loop review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685800" y="5212080"/>
            <a:ext cx="93236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Andres Rogers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Senior Data Scientist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"/>
          <p:cNvSpPr/>
          <p:nvPr/>
        </p:nvSpPr>
        <p:spPr>
          <a:xfrm>
            <a:off x="502920" y="228600"/>
            <a:ext cx="2559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GOAL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502920" y="502920"/>
            <a:ext cx="110638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Goal: The Challenge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Editable bullet textbox"/>
          <p:cNvSpPr/>
          <p:nvPr/>
        </p:nvSpPr>
        <p:spPr>
          <a:xfrm>
            <a:off x="1084320" y="1481400"/>
            <a:ext cx="8870040" cy="320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We are given anonymized AWS cost and usage data for one organization with multiple linked accounts.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The challenge is to understand how the organization uses cloud resources and how much it currently saves through discounts and commitments.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We need to evaluate whether current commitments are well sized, underused, or leaving savings opportunities unused.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The analysis must separate real savings from waste, incomplete months, and billing artifacts.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The final goal is to recommend a defensible commitment strategy and explain what evidence supports it.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6"/>
          <p:cNvSpPr/>
          <p:nvPr/>
        </p:nvSpPr>
        <p:spPr>
          <a:xfrm>
            <a:off x="502920" y="6419160"/>
            <a:ext cx="11155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Confidence: strong on mechanics, medium on product-risk framing | Source: repo_report.md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9"/>
          <p:cNvSpPr/>
          <p:nvPr/>
        </p:nvSpPr>
        <p:spPr>
          <a:xfrm>
            <a:off x="502920" y="228600"/>
            <a:ext cx="2559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PROBLEM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43"/>
          <p:cNvSpPr/>
          <p:nvPr/>
        </p:nvSpPr>
        <p:spPr>
          <a:xfrm>
            <a:off x="502920" y="502920"/>
            <a:ext cx="110638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Problem: commitment sizing is a coverage-versus-waste tradeoff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Editable bullet textbox 10"/>
          <p:cNvSpPr/>
          <p:nvPr/>
        </p:nvSpPr>
        <p:spPr>
          <a:xfrm>
            <a:off x="1084320" y="1645920"/>
            <a:ext cx="8870040" cy="231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[Strong] Commit too little and discounts are left on the table; commit too much and idle hours become waste.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[Strong] Commitments allocate hour by hour to eligible usage; unused commitment is use-it-or-lose-it.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[Strong] Spot, coverage, utilization, waste, and net savings must stay separate.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[Medium] The product choice is risk tolerance under changing usage, not just optimizer output.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44"/>
          <p:cNvSpPr/>
          <p:nvPr/>
        </p:nvSpPr>
        <p:spPr>
          <a:xfrm>
            <a:off x="502920" y="6419160"/>
            <a:ext cx="11155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Confidence: strong on mechanics, medium on product-risk framing | Source: repo_report.md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502920" y="22860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METHOD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502920" y="50292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Approach: AI-generated breadth, human-reviewed confidence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Editable bullet textbox"/>
          <p:cNvSpPr/>
          <p:nvPr/>
        </p:nvSpPr>
        <p:spPr>
          <a:xfrm>
            <a:off x="1231560" y="1875960"/>
            <a:ext cx="7677720" cy="246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[Strong] Scope is one organization with 42 linked accounts, 20.9M usage rows, and 10,955 pricing rows.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[Strong] Headlines use complete months 2025-07 through 2026-05; partial 2026-06 is excluded.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[Strong] AI produced repeatable scripts, plots, tables, methodologies, and ledgers for each challenge.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[Medium] Human review bounded definitions, anomalies, windows, and recommendation risk.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6"/>
          <p:cNvSpPr/>
          <p:nvPr/>
        </p:nvSpPr>
        <p:spPr>
          <a:xfrm>
            <a:off x="502920" y="6419160"/>
            <a:ext cx="11155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Confidence: medium | Ledger basis: reproducible outputs checked; domain judgment still required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1"/>
          <p:cNvSpPr/>
          <p:nvPr/>
        </p:nvSpPr>
        <p:spPr>
          <a:xfrm>
            <a:off x="502920" y="228600"/>
            <a:ext cx="2559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APPENDIX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502920" y="502920"/>
            <a:ext cx="110638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Understanding ledger: where confidence is strong versus weak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Editable bullet textbox"/>
          <p:cNvSpPr/>
          <p:nvPr/>
        </p:nvSpPr>
        <p:spPr>
          <a:xfrm>
            <a:off x="1100160" y="1703520"/>
            <a:ext cx="9147240" cy="246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[Strong] Verified: formulas, complete-period windows, hourly allocation, and coverage/utilization denominators.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[Medium] Trusted after checks: DuckDB aggregates, repeated breakpoint sweeps, CSV exports, and plot rendering.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[Preliminary] Still weak: future usage stability, business risk appetite, and exact comparison scope for current posture.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[Needs review] Next human decision: choose acceptable downside risk before buying more commitment.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6"/>
          <p:cNvSpPr/>
          <p:nvPr/>
        </p:nvSpPr>
        <p:spPr>
          <a:xfrm>
            <a:off x="502920" y="6419160"/>
            <a:ext cx="11155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Confidence: mixed by claim | Ledger basis: explicit verified/trusted/unsure sections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502920" y="22860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DATA SNAPSHOT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502920" y="50292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Challenge 0: dataset is usable, with one visible artifact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Picture 3" descr="monthly_row_counts.png"/>
          <p:cNvPicPr/>
          <p:nvPr/>
        </p:nvPicPr>
        <p:blipFill>
          <a:blip r:embed="rId1"/>
          <a:stretch/>
        </p:blipFill>
        <p:spPr>
          <a:xfrm>
            <a:off x="502920" y="1897560"/>
            <a:ext cx="6674760" cy="333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Editable bullet textbox"/>
          <p:cNvSpPr/>
          <p:nvPr/>
        </p:nvSpPr>
        <p:spPr>
          <a:xfrm>
            <a:off x="7452360" y="1325880"/>
            <a:ext cx="4160160" cy="350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[Strong] 20.9M usage rows and 10,955 pricing rows were profiled with no fatal readiness issue (no duplicates, extreme outliers, impossible values).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[Strong] Complete periods are 2025-07 through 2026-05; 2026-06 is partial.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[Strong] The 13 off-hour rows are all Unused Commitment rows and preserve original source timestamps.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[Medium] Data readiness checks are structural; they do not prove every row is semantically or numerically perfect.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5"/>
          <p:cNvSpPr/>
          <p:nvPr/>
        </p:nvSpPr>
        <p:spPr>
          <a:xfrm>
            <a:off x="7452360" y="4892040"/>
            <a:ext cx="4499280" cy="258120"/>
          </a:xfrm>
          <a:prstGeom prst="rect">
            <a:avLst/>
          </a:prstGeom>
          <a:solidFill>
            <a:srgbClr val="eff6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9800" rIns="1098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The 13 row normalization changed timestamp buckets only, not economics.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6"/>
          <p:cNvSpPr/>
          <p:nvPr/>
        </p:nvSpPr>
        <p:spPr>
          <a:xfrm>
            <a:off x="502920" y="6419160"/>
            <a:ext cx="11155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Confidence: medium | Ledger basis: schema/hour checks verified; deeper business rules may be needed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7"/>
          <p:cNvSpPr/>
          <p:nvPr/>
        </p:nvSpPr>
        <p:spPr>
          <a:xfrm>
            <a:off x="502920" y="228600"/>
            <a:ext cx="2559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DATA SNAPSHOT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8"/>
          <p:cNvSpPr/>
          <p:nvPr/>
        </p:nvSpPr>
        <p:spPr>
          <a:xfrm>
            <a:off x="502920" y="502920"/>
            <a:ext cx="110638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Challenge 0: monthly growth has a positive trend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Editable bullet textbox 1"/>
          <p:cNvSpPr/>
          <p:nvPr/>
        </p:nvSpPr>
        <p:spPr>
          <a:xfrm>
            <a:off x="7452360" y="2434680"/>
            <a:ext cx="4160160" cy="148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[Strong] Current strategy is better than on-demand cost, generating savings.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[Strong] total compute demand increased after 2025-12, stabilizing around a new regime.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10"/>
          <p:cNvSpPr/>
          <p:nvPr/>
        </p:nvSpPr>
        <p:spPr>
          <a:xfrm>
            <a:off x="502920" y="6419160"/>
            <a:ext cx="11155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Confidence: medium | Ledger basis: schema/hour checks verified; deeper business rules may be needed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"/>
          <p:cNvPicPr/>
          <p:nvPr/>
        </p:nvPicPr>
        <p:blipFill>
          <a:blip r:embed="rId1"/>
          <a:stretch/>
        </p:blipFill>
        <p:spPr>
          <a:xfrm>
            <a:off x="254520" y="1798560"/>
            <a:ext cx="7061760" cy="3530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11"/>
          <p:cNvSpPr/>
          <p:nvPr/>
        </p:nvSpPr>
        <p:spPr>
          <a:xfrm>
            <a:off x="502920" y="228600"/>
            <a:ext cx="2559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DATA SNAPSHOT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2"/>
          <p:cNvSpPr/>
          <p:nvPr/>
        </p:nvSpPr>
        <p:spPr>
          <a:xfrm>
            <a:off x="502920" y="502920"/>
            <a:ext cx="110638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Challenge 0: biggest change in demand comes from EC2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Editable bullet textbox 2"/>
          <p:cNvSpPr/>
          <p:nvPr/>
        </p:nvSpPr>
        <p:spPr>
          <a:xfrm>
            <a:off x="7435800" y="2212560"/>
            <a:ext cx="416016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[Strong] The biggest jump was on EC2 (VMs) demand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13"/>
          <p:cNvSpPr/>
          <p:nvPr/>
        </p:nvSpPr>
        <p:spPr>
          <a:xfrm>
            <a:off x="7452360" y="4892040"/>
            <a:ext cx="4499280" cy="258120"/>
          </a:xfrm>
          <a:prstGeom prst="rect">
            <a:avLst/>
          </a:prstGeom>
          <a:solidFill>
            <a:srgbClr val="eff6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9800" rIns="1098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The 13 row normalization changed timestamp buckets only, not economics.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14"/>
          <p:cNvSpPr/>
          <p:nvPr/>
        </p:nvSpPr>
        <p:spPr>
          <a:xfrm>
            <a:off x="502920" y="6419160"/>
            <a:ext cx="11155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Confidence: medium | Ledger basis: schema/hour checks verified; deeper business rules may be needed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"/>
          <p:cNvPicPr/>
          <p:nvPr/>
        </p:nvPicPr>
        <p:blipFill>
          <a:blip r:embed="rId1"/>
          <a:stretch/>
        </p:blipFill>
        <p:spPr>
          <a:xfrm>
            <a:off x="401400" y="2019960"/>
            <a:ext cx="6873480" cy="3054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1"/>
          <p:cNvSpPr/>
          <p:nvPr/>
        </p:nvSpPr>
        <p:spPr>
          <a:xfrm>
            <a:off x="502920" y="22860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CHART INSIGHT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502920" y="50292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Challenge 1: current all-in savings are real but incomplete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" name="Picture 3" descr="monthly_effective_savings_rate.png"/>
          <p:cNvPicPr/>
          <p:nvPr/>
        </p:nvPicPr>
        <p:blipFill>
          <a:blip r:embed="rId1"/>
          <a:stretch/>
        </p:blipFill>
        <p:spPr>
          <a:xfrm>
            <a:off x="502920" y="1897560"/>
            <a:ext cx="6674760" cy="333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Editable bullet textbox"/>
          <p:cNvSpPr/>
          <p:nvPr/>
        </p:nvSpPr>
        <p:spPr>
          <a:xfrm>
            <a:off x="7452360" y="1325880"/>
            <a:ext cx="416016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[Strong] Complete-month savings are $111.0k, or 11.52% of $963.8k on-demand equivalent.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[Strong] Commitment discount contributes $105.8k; Spot adds $6.9k.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[Strong] $7.0k of unused commitment waste is included instead of hidden.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[Medium] Stability outside the 2025-07 to 2026-05 complete-month window is not proven here.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5"/>
          <p:cNvSpPr/>
          <p:nvPr/>
        </p:nvSpPr>
        <p:spPr>
          <a:xfrm>
            <a:off x="7452360" y="4892040"/>
            <a:ext cx="4160160" cy="685440"/>
          </a:xfrm>
          <a:prstGeom prst="rect">
            <a:avLst/>
          </a:prstGeom>
          <a:solidFill>
            <a:srgbClr val="eff6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9800" rIns="1098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Table backup: output/challenge_01/tables/effective_savings_by_service.csv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6"/>
          <p:cNvSpPr/>
          <p:nvPr/>
        </p:nvSpPr>
        <p:spPr>
          <a:xfrm>
            <a:off x="502920" y="6419160"/>
            <a:ext cx="11155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Confidence: medium | Ledger basis: formula and reconciliation verified; alternate windows not tested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19"/>
          <p:cNvSpPr/>
          <p:nvPr/>
        </p:nvSpPr>
        <p:spPr>
          <a:xfrm>
            <a:off x="502920" y="228600"/>
            <a:ext cx="2559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CHART INSIGHT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20"/>
          <p:cNvSpPr/>
          <p:nvPr/>
        </p:nvSpPr>
        <p:spPr>
          <a:xfrm>
            <a:off x="502920" y="502920"/>
            <a:ext cx="110638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Challenge 1: savings by instrument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22"/>
          <p:cNvSpPr/>
          <p:nvPr/>
        </p:nvSpPr>
        <p:spPr>
          <a:xfrm>
            <a:off x="502920" y="6419160"/>
            <a:ext cx="11155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Confidence: medium | Ledger basis: formula and reconciliation verified; alternate windows not tested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"/>
          <p:cNvPicPr/>
          <p:nvPr/>
        </p:nvPicPr>
        <p:blipFill>
          <a:blip r:embed="rId1"/>
          <a:stretch/>
        </p:blipFill>
        <p:spPr>
          <a:xfrm>
            <a:off x="414000" y="1793880"/>
            <a:ext cx="5668560" cy="312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"/>
          <p:cNvPicPr/>
          <p:nvPr/>
        </p:nvPicPr>
        <p:blipFill>
          <a:blip r:embed="rId2"/>
          <a:stretch/>
        </p:blipFill>
        <p:spPr>
          <a:xfrm>
            <a:off x="6205680" y="1644120"/>
            <a:ext cx="5803920" cy="3627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Box 15"/>
          <p:cNvSpPr/>
          <p:nvPr/>
        </p:nvSpPr>
        <p:spPr>
          <a:xfrm>
            <a:off x="502920" y="228600"/>
            <a:ext cx="2559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CHART INSIGHT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16"/>
          <p:cNvSpPr/>
          <p:nvPr/>
        </p:nvSpPr>
        <p:spPr>
          <a:xfrm>
            <a:off x="502920" y="502920"/>
            <a:ext cx="110638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Challenge 1: monthly commitments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8"/>
          <p:cNvSpPr/>
          <p:nvPr/>
        </p:nvSpPr>
        <p:spPr>
          <a:xfrm>
            <a:off x="502920" y="6419160"/>
            <a:ext cx="11155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Confidence: medium | Ledger basis: formula and reconciliation verified; alternate windows not tested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"/>
          <p:cNvPicPr/>
          <p:nvPr/>
        </p:nvPicPr>
        <p:blipFill>
          <a:blip r:embed="rId1"/>
          <a:stretch/>
        </p:blipFill>
        <p:spPr>
          <a:xfrm>
            <a:off x="1409040" y="1393200"/>
            <a:ext cx="9076320" cy="4861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"/>
          <p:cNvSpPr/>
          <p:nvPr/>
        </p:nvSpPr>
        <p:spPr>
          <a:xfrm>
            <a:off x="502920" y="22860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CHART INSIGHT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2"/>
          <p:cNvSpPr/>
          <p:nvPr/>
        </p:nvSpPr>
        <p:spPr>
          <a:xfrm>
            <a:off x="502920" y="50292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Challenge 2: recent 3-month math optimum is high and efficient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Picture 3" descr="savings_curve.png"/>
          <p:cNvPicPr/>
          <p:nvPr/>
        </p:nvPicPr>
        <p:blipFill>
          <a:blip r:embed="rId1"/>
          <a:stretch/>
        </p:blipFill>
        <p:spPr>
          <a:xfrm>
            <a:off x="502920" y="1688760"/>
            <a:ext cx="6674760" cy="375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Editable bullet textbox"/>
          <p:cNvSpPr/>
          <p:nvPr/>
        </p:nvSpPr>
        <p:spPr>
          <a:xfrm>
            <a:off x="7452360" y="1325880"/>
            <a:ext cx="416016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[Strong] Recent-window optimum is $23.14/hour discounted commitment.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[Strong] Modeled savings are $38.6k with 94.1% coverage and 99.4% utilization.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[Strong] Waste at the optimum is small but nonzero: $300 over 2,208 hours.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[Medium] Future representativeness of the latest three complete months remains the main uncertainty.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5"/>
          <p:cNvSpPr/>
          <p:nvPr/>
        </p:nvSpPr>
        <p:spPr>
          <a:xfrm>
            <a:off x="7452360" y="4892040"/>
            <a:ext cx="4160160" cy="685440"/>
          </a:xfrm>
          <a:prstGeom prst="rect">
            <a:avLst/>
          </a:prstGeom>
          <a:solidFill>
            <a:srgbClr val="eff6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9800" rIns="1098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Table backup: output/challenge_02/tables/commitment_options.csv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6"/>
          <p:cNvSpPr/>
          <p:nvPr/>
        </p:nvSpPr>
        <p:spPr>
          <a:xfrm>
            <a:off x="502920" y="6419160"/>
            <a:ext cx="11155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Confidence: medium | Ledger basis: optimizer mechanics verified; future demand unresolved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27"/>
          <p:cNvSpPr/>
          <p:nvPr/>
        </p:nvSpPr>
        <p:spPr>
          <a:xfrm>
            <a:off x="502920" y="228600"/>
            <a:ext cx="2559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CHART INSIGHT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28"/>
          <p:cNvSpPr/>
          <p:nvPr/>
        </p:nvSpPr>
        <p:spPr>
          <a:xfrm>
            <a:off x="502920" y="502920"/>
            <a:ext cx="110638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Challenge 2: recent 3-month biggest gross upside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Editable bullet textbox 6"/>
          <p:cNvSpPr/>
          <p:nvPr/>
        </p:nvSpPr>
        <p:spPr>
          <a:xfrm>
            <a:off x="7452360" y="1843200"/>
            <a:ext cx="416016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[Strong] Biggest savings could be achieved on EC2 and ECS commitments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29"/>
          <p:cNvSpPr/>
          <p:nvPr/>
        </p:nvSpPr>
        <p:spPr>
          <a:xfrm>
            <a:off x="7452360" y="4892040"/>
            <a:ext cx="4118760" cy="258120"/>
          </a:xfrm>
          <a:prstGeom prst="rect">
            <a:avLst/>
          </a:prstGeom>
          <a:solidFill>
            <a:srgbClr val="eff6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9800" rIns="1098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Table backup: output/challenge_02/tables/commitment_options.csv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30"/>
          <p:cNvSpPr/>
          <p:nvPr/>
        </p:nvSpPr>
        <p:spPr>
          <a:xfrm>
            <a:off x="502920" y="6419160"/>
            <a:ext cx="11155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Confidence: medium | Ledger basis: optimizer mechanics verified; future demand unresolved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"/>
          <p:cNvPicPr/>
          <p:nvPr/>
        </p:nvPicPr>
        <p:blipFill>
          <a:blip r:embed="rId1"/>
          <a:stretch/>
        </p:blipFill>
        <p:spPr>
          <a:xfrm>
            <a:off x="837360" y="1551960"/>
            <a:ext cx="6481800" cy="3645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1"/>
          <p:cNvSpPr/>
          <p:nvPr/>
        </p:nvSpPr>
        <p:spPr>
          <a:xfrm>
            <a:off x="502920" y="22860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CHART INSIGHT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2"/>
          <p:cNvSpPr/>
          <p:nvPr/>
        </p:nvSpPr>
        <p:spPr>
          <a:xfrm>
            <a:off x="502920" y="50292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Challenge 3: the answer changes materially by time window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Picture 3" descr="optimal_level_by_window.png"/>
          <p:cNvPicPr/>
          <p:nvPr/>
        </p:nvPicPr>
        <p:blipFill>
          <a:blip r:embed="rId1"/>
          <a:stretch/>
        </p:blipFill>
        <p:spPr>
          <a:xfrm>
            <a:off x="502920" y="2064240"/>
            <a:ext cx="6674760" cy="300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Editable bullet textbox"/>
          <p:cNvSpPr/>
          <p:nvPr/>
        </p:nvSpPr>
        <p:spPr>
          <a:xfrm>
            <a:off x="7452360" y="1325880"/>
            <a:ext cx="416016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[Strong] Optimal commitment spread is $11.71/hour across evaluated windows.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[Medium] The recommended sizing rule is the most recent 3 complete months.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[Strong] Discounted compute spend jumped 50.1% around 2025-12.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[Preliminary] If the account is mid-migration, a broader or different planning window may be better.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5"/>
          <p:cNvSpPr/>
          <p:nvPr/>
        </p:nvSpPr>
        <p:spPr>
          <a:xfrm>
            <a:off x="7452360" y="4892040"/>
            <a:ext cx="4160160" cy="685440"/>
          </a:xfrm>
          <a:prstGeom prst="rect">
            <a:avLst/>
          </a:prstGeom>
          <a:solidFill>
            <a:srgbClr val="eff6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9800" rIns="1098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Table backup: output/challenge_03/tables/window_sensitivity.csv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6"/>
          <p:cNvSpPr/>
          <p:nvPr/>
        </p:nvSpPr>
        <p:spPr>
          <a:xfrm>
            <a:off x="502920" y="6419160"/>
            <a:ext cx="11155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Confidence: medium | Ledger basis: repeated optimizer verified; planning cadence unknown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 31"/>
          <p:cNvSpPr/>
          <p:nvPr/>
        </p:nvSpPr>
        <p:spPr>
          <a:xfrm>
            <a:off x="502920" y="228600"/>
            <a:ext cx="2559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CHART INSIGHT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32"/>
          <p:cNvSpPr/>
          <p:nvPr/>
        </p:nvSpPr>
        <p:spPr>
          <a:xfrm>
            <a:off x="502920" y="502920"/>
            <a:ext cx="110638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Challenge 3: savings by time window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34"/>
          <p:cNvSpPr/>
          <p:nvPr/>
        </p:nvSpPr>
        <p:spPr>
          <a:xfrm>
            <a:off x="502920" y="6419160"/>
            <a:ext cx="11155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Confidence: medium | Ledger basis: repeated optimizer verified; planning cadence unknown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" name=""/>
          <p:cNvPicPr/>
          <p:nvPr/>
        </p:nvPicPr>
        <p:blipFill>
          <a:blip r:embed="rId1"/>
          <a:stretch/>
        </p:blipFill>
        <p:spPr>
          <a:xfrm>
            <a:off x="1198800" y="1387440"/>
            <a:ext cx="9524520" cy="4285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35"/>
          <p:cNvSpPr/>
          <p:nvPr/>
        </p:nvSpPr>
        <p:spPr>
          <a:xfrm>
            <a:off x="502920" y="228600"/>
            <a:ext cx="2559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CHART INSIGHT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36"/>
          <p:cNvSpPr/>
          <p:nvPr/>
        </p:nvSpPr>
        <p:spPr>
          <a:xfrm>
            <a:off x="502920" y="502920"/>
            <a:ext cx="110638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Challenge 3: regime change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38"/>
          <p:cNvSpPr/>
          <p:nvPr/>
        </p:nvSpPr>
        <p:spPr>
          <a:xfrm>
            <a:off x="502920" y="6419160"/>
            <a:ext cx="11155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Confidence: medium | Ledger basis: repeated optimizer verified; planning cadence unknown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"/>
          <p:cNvPicPr/>
          <p:nvPr/>
        </p:nvPicPr>
        <p:blipFill>
          <a:blip r:embed="rId1"/>
          <a:stretch/>
        </p:blipFill>
        <p:spPr>
          <a:xfrm>
            <a:off x="1469520" y="1215000"/>
            <a:ext cx="8835480" cy="4677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"/>
          <p:cNvSpPr/>
          <p:nvPr/>
        </p:nvSpPr>
        <p:spPr>
          <a:xfrm>
            <a:off x="502920" y="22860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CHART INSIGHT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2"/>
          <p:cNvSpPr/>
          <p:nvPr/>
        </p:nvSpPr>
        <p:spPr>
          <a:xfrm>
            <a:off x="502920" y="502920"/>
            <a:ext cx="110638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Challenge 4: old baseline was close on savings, but demand changed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Editable bullet textbox"/>
          <p:cNvSpPr/>
          <p:nvPr/>
        </p:nvSpPr>
        <p:spPr>
          <a:xfrm>
            <a:off x="7452360" y="1325880"/>
            <a:ext cx="416016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[Strong] 2025-08 baseline commitment was $18.77/hour.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[Strong] Baseline saved $70.1k versus $70.5k for the hindsight optimum; gap was $343.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[Strong] Baseline still created $13.3k of waste and averaged 89.1% utilization.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[Medium] The exact anchor choice may change details, but not the conservative-baseline lesson.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5"/>
          <p:cNvSpPr/>
          <p:nvPr/>
        </p:nvSpPr>
        <p:spPr>
          <a:xfrm>
            <a:off x="7452360" y="4892040"/>
            <a:ext cx="4160160" cy="685440"/>
          </a:xfrm>
          <a:prstGeom prst="rect">
            <a:avLst/>
          </a:prstGeom>
          <a:solidFill>
            <a:srgbClr val="eff6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9800" rIns="1098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Table backup: output/challenge_04/tables/baseline_vs_optimal.csv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6"/>
          <p:cNvSpPr/>
          <p:nvPr/>
        </p:nvSpPr>
        <p:spPr>
          <a:xfrm>
            <a:off x="502920" y="6419160"/>
            <a:ext cx="11155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Confidence: medium | Ledger basis: fixed backtest reconciled; anchor convention uncertain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"/>
          <p:cNvPicPr/>
          <p:nvPr/>
        </p:nvPicPr>
        <p:blipFill>
          <a:blip r:embed="rId1"/>
          <a:stretch/>
        </p:blipFill>
        <p:spPr>
          <a:xfrm>
            <a:off x="245880" y="1789920"/>
            <a:ext cx="7098840" cy="3194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Box 1"/>
          <p:cNvSpPr/>
          <p:nvPr/>
        </p:nvSpPr>
        <p:spPr>
          <a:xfrm>
            <a:off x="502920" y="22860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CHART INSIGHT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2"/>
          <p:cNvSpPr/>
          <p:nvPr/>
        </p:nvSpPr>
        <p:spPr>
          <a:xfrm>
            <a:off x="502920" y="50292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Challenge 5: current portfolio is mostly used, but under-covered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7" name="Picture 3" descr="commitment_utilization_heatmap.png"/>
          <p:cNvPicPr/>
          <p:nvPr/>
        </p:nvPicPr>
        <p:blipFill>
          <a:blip r:embed="rId1"/>
          <a:stretch/>
        </p:blipFill>
        <p:spPr>
          <a:xfrm>
            <a:off x="792360" y="1188720"/>
            <a:ext cx="6095520" cy="475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Editable bullet textbox"/>
          <p:cNvSpPr/>
          <p:nvPr/>
        </p:nvSpPr>
        <p:spPr>
          <a:xfrm>
            <a:off x="7452360" y="1325880"/>
            <a:ext cx="416016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[Strong] 29 commitments were observed over the current 3-month audit window.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[Strong] Portfolio utilization is 97.2% with $1.56k waste, mostly from one RDS RI.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[Medium] Coverage is only 29.1%; 27 commitments look under-committed and 2 over-committed by the audit rule.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[Preliminary] Scope-specific commitment logic could refine the under-commitment classification.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5"/>
          <p:cNvSpPr/>
          <p:nvPr/>
        </p:nvSpPr>
        <p:spPr>
          <a:xfrm>
            <a:off x="7452360" y="4892040"/>
            <a:ext cx="4160160" cy="685440"/>
          </a:xfrm>
          <a:prstGeom prst="rect">
            <a:avLst/>
          </a:prstGeom>
          <a:solidFill>
            <a:srgbClr val="eff6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9800" rIns="1098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Table backup: output/challenge_05/tables/commitment_inventory.csv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6"/>
          <p:cNvSpPr/>
          <p:nvPr/>
        </p:nvSpPr>
        <p:spPr>
          <a:xfrm>
            <a:off x="502920" y="6419160"/>
            <a:ext cx="11155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Confidence: medium | Ledger basis: inventory reconciled; residual-on-demand proxy is simple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Box 1"/>
          <p:cNvSpPr/>
          <p:nvPr/>
        </p:nvSpPr>
        <p:spPr>
          <a:xfrm>
            <a:off x="502920" y="22860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CHART INSIGHT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2"/>
          <p:cNvSpPr/>
          <p:nvPr/>
        </p:nvSpPr>
        <p:spPr>
          <a:xfrm>
            <a:off x="502920" y="50292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Challenge 6: frontier supports a controlled increase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" name="Picture 3" descr="savings_coverage_utilization_bubble.png"/>
          <p:cNvPicPr/>
          <p:nvPr/>
        </p:nvPicPr>
        <p:blipFill>
          <a:blip r:embed="rId1"/>
          <a:stretch/>
        </p:blipFill>
        <p:spPr>
          <a:xfrm>
            <a:off x="502920" y="1602720"/>
            <a:ext cx="6674760" cy="392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Editable bullet textbox"/>
          <p:cNvSpPr/>
          <p:nvPr/>
        </p:nvSpPr>
        <p:spPr>
          <a:xfrm>
            <a:off x="7452360" y="1325880"/>
            <a:ext cx="416016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[Strong] Max historical savings point is $23.12/hour for $38.6k savings.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[Medium] Recommended operating point is $21.51/hour for $37.2k savings.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[Strong] Current compute posture is $19.46/hour, $33.3k savings, and zero waste in this slice.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[Medium] Recommendation preserves 100% utilization while capturing most upside, but the 95% rule is a business choice.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5"/>
          <p:cNvSpPr/>
          <p:nvPr/>
        </p:nvSpPr>
        <p:spPr>
          <a:xfrm>
            <a:off x="7452360" y="4892040"/>
            <a:ext cx="4160160" cy="685440"/>
          </a:xfrm>
          <a:prstGeom prst="rect">
            <a:avLst/>
          </a:prstGeom>
          <a:solidFill>
            <a:srgbClr val="eff6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9800" rIns="1098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Table backup: output/challenge_06/tables/frontier.csv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6"/>
          <p:cNvSpPr/>
          <p:nvPr/>
        </p:nvSpPr>
        <p:spPr>
          <a:xfrm>
            <a:off x="502920" y="6419160"/>
            <a:ext cx="11155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Confidence: medium | Ledger basis: frontier definitions verified; risk threshold subjective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Box 1"/>
          <p:cNvSpPr/>
          <p:nvPr/>
        </p:nvSpPr>
        <p:spPr>
          <a:xfrm>
            <a:off x="502920" y="228600"/>
            <a:ext cx="2559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RECOMMENDATION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2"/>
          <p:cNvSpPr/>
          <p:nvPr/>
        </p:nvSpPr>
        <p:spPr>
          <a:xfrm>
            <a:off x="502920" y="502920"/>
            <a:ext cx="110638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Recommendation: use $21.51/hour as the decision anchor for now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9" name="Picture 3" descr="coverage_utilization_frontier.png"/>
          <p:cNvPicPr/>
          <p:nvPr/>
        </p:nvPicPr>
        <p:blipFill>
          <a:blip r:embed="rId1"/>
          <a:stretch/>
        </p:blipFill>
        <p:spPr>
          <a:xfrm>
            <a:off x="502920" y="1480320"/>
            <a:ext cx="6674760" cy="417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Editable bullet textbox"/>
          <p:cNvSpPr/>
          <p:nvPr/>
        </p:nvSpPr>
        <p:spPr>
          <a:xfrm>
            <a:off x="7452360" y="1325880"/>
            <a:ext cx="4160160" cy="350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[Medium] Move the discussion anchor from $19.46/hour toward $21.51/hour, not immediately to the max point.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[Strong] Re-run monthly as new complete periods arrive; keep partial months out of headline decisions.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[Medium] Escalate to $23.12/hour only if stakeholders accept more historical-fit risk for about $1.4k extra modeled upside.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[Needs review] Treat the model as stale if product plans materially change demand. Recalculate trailing optimum next month.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5"/>
          <p:cNvSpPr/>
          <p:nvPr/>
        </p:nvSpPr>
        <p:spPr>
          <a:xfrm>
            <a:off x="7452360" y="4892040"/>
            <a:ext cx="4534920" cy="258120"/>
          </a:xfrm>
          <a:prstGeom prst="rect">
            <a:avLst/>
          </a:prstGeom>
          <a:solidFill>
            <a:srgbClr val="eff6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9800" rIns="1098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Close with operating cadence and decision conditions, not one-off certainty.</a:t>
            </a:r>
            <a:endParaRPr lang="es-E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6"/>
          <p:cNvSpPr/>
          <p:nvPr/>
        </p:nvSpPr>
        <p:spPr>
          <a:xfrm>
            <a:off x="502920" y="6419160"/>
            <a:ext cx="11155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Confidence: medium | Ledger basis: recommendation is reviewed judgment, not a guaranteed forecast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Box 1"/>
          <p:cNvSpPr/>
          <p:nvPr/>
        </p:nvSpPr>
        <p:spPr>
          <a:xfrm>
            <a:off x="502920" y="228600"/>
            <a:ext cx="25599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2563eb"/>
                </a:solidFill>
                <a:effectLst/>
                <a:uFillTx/>
                <a:latin typeface="Calibri"/>
              </a:rPr>
              <a:t>NEXT STEPS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2"/>
          <p:cNvSpPr/>
          <p:nvPr/>
        </p:nvSpPr>
        <p:spPr>
          <a:xfrm>
            <a:off x="502920" y="502920"/>
            <a:ext cx="110638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Main Take-aways</a:t>
            </a:r>
            <a:endParaRPr lang="es-E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Editable bullet textbox"/>
          <p:cNvSpPr/>
          <p:nvPr/>
        </p:nvSpPr>
        <p:spPr>
          <a:xfrm>
            <a:off x="657000" y="1325880"/>
            <a:ext cx="10955520" cy="412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[Medium] Recommend modest expansion now, not max-at-all-costs. Current compute posture is conservative at about $19.46/h; use $21.51/h as the near-term decision anchor because it captures most modeled upside while preserving ~100% utilization.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[Strong] Demand is changing dynamically, so static historical sizing has limits. The analysis found material window sensitivity and a regime shift around 2025-12; trailing recent months are the best current baseline, but they are still backward-looking.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[Medium] Forecasting could improve savings and adaptation. A forward-looking model could anticipate demand trends, product growth, migrations, or seasonality instead of waiting for trailing-window metrics to catch up.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[Medium] Next research should expand into Challenges 7–8. These are harder and take more time because they move from hindsight optimization to forecast-driven commitment planning, but the trade-off is potentially higher savings and faster alignment with business needs.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700" b="0" u="none" strike="noStrike">
                <a:solidFill>
                  <a:srgbClr val="0f172a"/>
                </a:solidFill>
                <a:effectLst/>
                <a:uFillTx/>
                <a:latin typeface="Calibri"/>
              </a:rPr>
              <a:t>• [Needs review] Product input features becomes essential. Forecast-based commitment sizing should include expected launches, customer growth, infra changes, and risk tolerance, because the “best” commitment depends on future business direction, not only past usage.</a:t>
            </a:r>
            <a:endParaRPr lang="es-E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6"/>
          <p:cNvSpPr/>
          <p:nvPr/>
        </p:nvSpPr>
        <p:spPr>
          <a:xfrm>
            <a:off x="502920" y="6419160"/>
            <a:ext cx="11155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Confidence: medium | Ledger basis: warnings verified; future regime still uncertain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</TotalTime>
  <Application>LibreOffice/25.8.6.2$Windows_X86_64 LibreOffice_project/b4b39682cd9868fa725bc664aff94278d315bd04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es-ES</dc:language>
  <cp:lastModifiedBy/>
  <dcterms:modified xsi:type="dcterms:W3CDTF">2026-06-26T15:27:47Z</dcterms:modified>
  <cp:revision>31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